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2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600" b="1" i="1">
                <a:solidFill>
                  <a:srgbClr val="FFFFFF"/>
                </a:solidFill>
                <a:latin typeface="Calibri"/>
              </a:defRPr>
            </a:pPr>
            <a:r>
              <a:t>LectureScribe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0" i="0">
                <a:solidFill>
                  <a:srgbClr val="E5E7EB"/>
                </a:solidFill>
                <a:latin typeface="Calibri"/>
              </a:defRPr>
            </a:pPr>
            <a:r>
              <a:t>Product Requirements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65760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0" i="0">
                <a:solidFill>
                  <a:srgbClr val="6B7280"/>
                </a:solidFill>
                <a:latin typeface="Calibri"/>
              </a:defRPr>
            </a:pPr>
            <a:r>
              <a:t>AI-Powered Lecture-to-Notes Platform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572000"/>
            <a:ext cx="3657600" cy="25400"/>
          </a:xfrm>
          <a:prstGeom prst="roundRect">
            <a:avLst>
              <a:gd name="adj" fmla="val 2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484632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Version 1.0  ·  August 24, 2026  ·  Pre-Production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4572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github.com/Kofi011/lecturescribe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 i="0">
                <a:solidFill>
                  <a:srgbClr val="000000"/>
                </a:solidFill>
                <a:latin typeface="Calibri"/>
              </a:defRPr>
            </a:pPr>
            <a:r>
              <a:t>Table of Contents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09728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5029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01  Executive Summary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02  Problem Statement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03  Vision &amp; Objectives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04  Target Users &amp; Personas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05  Market Context &amp; Competitive Landscape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06  Product Overview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07  User Stories &amp; Journeys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08  Functional Requirements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09  Non-Functional Requirements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10 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371600"/>
            <a:ext cx="502920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1A1A1A"/>
                </a:solidFill>
                <a:latin typeface="Calibri"/>
              </a:defRPr>
            </a:pP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11  Data Model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12  API Specification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13  UI/UX Design Specification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14  Security &amp; Privacy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15  Performance Requirements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16  Release Plan &amp; Milestones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17  Success Metrics &amp; KPIs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18  Out of Scope &amp; Future Roadmap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19  Risks &amp; Mitigations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400" b="0" i="0">
                <a:solidFill>
                  <a:srgbClr val="1A1A1A"/>
                </a:solidFill>
                <a:latin typeface="Calibri"/>
              </a:defRPr>
            </a:pPr>
            <a:r>
              <a:t>20  Appendices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Executive Summary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515600" cy="256032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28600"/>
          <a:lstStyle/>
          <a:p>
            <a:pPr algn="ctr">
              <a:spcAft>
                <a:spcPts val="1000"/>
              </a:spcAft>
              <a:defRPr sz="1400">
                <a:solidFill>
                  <a:srgbClr val="1A1A1A"/>
                </a:solidFill>
                <a:latin typeface="Calibri"/>
              </a:defRPr>
            </a:pPr>
            <a:r>
              <a:t>LectureScribe is an AI-powered academic web platform that transforms pre-recorded lecture audio into structured, exam-ready study materials.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300" b="0" i="0">
                <a:solidFill>
                  <a:srgbClr val="374151"/>
                </a:solidFill>
                <a:latin typeface="Calibri"/>
              </a:defRPr>
            </a:pPr>
            <a:r>
              <a:t>Students upload lecture recordings (MP3, WAV, M4A) and receive: a full transcript, organized section notes, key concept extractions, a terminology glossary, self-test revision questions, and access to an interactive AI Academic Tutor grounded in lecture content.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 i="0">
                <a:solidFill>
                  <a:srgbClr val="374151"/>
                </a:solidFill>
                <a:latin typeface="Calibri"/>
              </a:defRPr>
            </a:pPr>
            <a:r>
              <a:t>Features a dual speech recognition engine — Groq Whisper for standard English and Griot Nano 1 for African-accented and multilingual speech — making it uniquely inclusive for global academic communities.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4572000"/>
            <a:ext cx="2423160" cy="16459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Dual ASR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 i="0">
                <a:solidFill>
                  <a:srgbClr val="E5E7EB"/>
                </a:solidFill>
                <a:latin typeface="Calibri"/>
              </a:defRPr>
            </a:pPr>
            <a:r>
              <a:t>Whisper + Griot Nano 1</a:t>
            </a:r>
            <a:br/>
            <a:r>
              <a:t>for inclusive transcription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73552" y="4572000"/>
            <a:ext cx="2423160" cy="16459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3-Trial Freemium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 i="0">
                <a:solidFill>
                  <a:srgbClr val="E5E7EB"/>
                </a:solidFill>
                <a:latin typeface="Calibri"/>
              </a:defRPr>
            </a:pPr>
            <a:r>
              <a:t>Full product experience</a:t>
            </a:r>
            <a:br/>
            <a:r>
              <a:t>before any signup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07024" y="4572000"/>
            <a:ext cx="2423160" cy="16459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AI Academic Tutor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 i="0">
                <a:solidFill>
                  <a:srgbClr val="E5E7EB"/>
                </a:solidFill>
                <a:latin typeface="Calibri"/>
              </a:defRPr>
            </a:pPr>
            <a:r>
              <a:t>Grounded Q&amp;A constrained</a:t>
            </a:r>
            <a:br/>
            <a:r>
              <a:t>to lecture content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40496" y="4572000"/>
            <a:ext cx="2423160" cy="164592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Branded PDF Export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 i="0">
                <a:solidFill>
                  <a:srgbClr val="E5E7EB"/>
                </a:solidFill>
                <a:latin typeface="Calibri"/>
              </a:defRPr>
            </a:pPr>
            <a:r>
              <a:t>Professional output with</a:t>
            </a:r>
            <a:br/>
            <a:r>
              <a:t>verified stamp &amp; seal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The Problem We Solve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9164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 i="0">
                <a:solidFill>
                  <a:srgbClr val="374151"/>
                </a:solidFill>
                <a:latin typeface="Calibri"/>
              </a:defRPr>
            </a:pPr>
            <a:r>
              <a:t>University students routinely record lectures but rarely re-listen to them. A 60-minute recording takes 60 minutes to review — valuable lecture content goes unused.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74320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⏱  Time Cost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Students skip review entirely,</a:t>
            </a:r>
            <a:br/>
            <a:r>
              <a:t>losing critical content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16352" y="274320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✍  Manual Work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Tedious, error-prone</a:t>
            </a:r>
            <a:br/>
            <a:r>
              <a:t>transcription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992624" y="274320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🔇  Unstructured Audio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No searchable text, no</a:t>
            </a:r>
            <a:br/>
            <a:r>
              <a:t>organized concepts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68896" y="274320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🌍  Accent Barriers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Existing tools fail on</a:t>
            </a:r>
            <a:br/>
            <a:r>
              <a:t>accented/multilingual speech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45168" y="2743200"/>
            <a:ext cx="2011680" cy="1554480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37160"/>
          <a:lstStyle/>
          <a:p>
            <a:pPr algn="ctr">
              <a:defRPr sz="1300" b="1">
                <a:solidFill>
                  <a:srgbClr val="000000"/>
                </a:solidFill>
                <a:latin typeface="Calibri"/>
              </a:defRPr>
            </a:pPr>
            <a:r>
              <a:t>🧩  Fragmented Workflow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Students juggle separate</a:t>
            </a:r>
            <a:br/>
            <a:r>
              <a:t>tools for each step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54880"/>
            <a:ext cx="10515600" cy="1371600"/>
          </a:xfrm>
          <a:prstGeom prst="roundRect">
            <a:avLst>
              <a:gd name="adj" fmla="val 4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 rIns="274320"/>
          <a:lstStyle/>
          <a:p>
            <a:pPr algn="ctr">
              <a:defRPr sz="1200" b="1">
                <a:solidFill>
                  <a:srgbClr val="E5E7EB"/>
                </a:solidFill>
                <a:latin typeface="Calibri"/>
              </a:defRPr>
            </a:pPr>
            <a:r>
              <a:t>THE OPPORTUNITY</a:t>
            </a:r>
          </a:p>
          <a:p>
            <a:pPr algn="l">
              <a:spcBef>
                <a:spcPts val="800"/>
              </a:spcBef>
              <a:spcAft>
                <a:spcPts val="200"/>
              </a:spcAft>
              <a:defRPr sz="1300" b="0" i="0">
                <a:solidFill>
                  <a:srgbClr val="FFFFFF"/>
                </a:solidFill>
                <a:latin typeface="Calibri"/>
              </a:defRPr>
            </a:pPr>
            <a:r>
              <a:t>By collapsing the entire record → transcribe → organize → study pipeline into a single upload action, LectureScribe converts hours of manual effort into minutes of automated processing — producing study materials superior to what most students create manually.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VISION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Vision &amp; Strategic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0515600" cy="100584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tIns="182880"/>
          <a:lstStyle/>
          <a:p>
            <a:pPr algn="ctr">
              <a:defRPr sz="1600" i="1">
                <a:solidFill>
                  <a:srgbClr val="374151"/>
                </a:solidFill>
                <a:latin typeface="Calibri"/>
              </a:defRPr>
            </a:pPr>
            <a:r>
              <a:t>"Every student deserves an AI scribe — one that understands every accent, organizes every idea, and helps them study smarter."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017520"/>
            <a:ext cx="640080" cy="502920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3017520"/>
            <a:ext cx="4114800" cy="502920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Objective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94960" y="3017520"/>
            <a:ext cx="5760720" cy="502920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Success Indicator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520440"/>
            <a:ext cx="640080" cy="50292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O1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80160" y="3520440"/>
            <a:ext cx="4114800" cy="50292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Remove friction from lecture review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394960" y="3520440"/>
            <a:ext cx="5760720" cy="50292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Upload-to-notes in under 2 minutes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023360"/>
            <a:ext cx="640080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O2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4023360"/>
            <a:ext cx="4114800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Serve linguistically diverse student bodies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94960" y="4023360"/>
            <a:ext cx="5760720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Dual-engine routing for accented/multilingual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526280"/>
            <a:ext cx="640080" cy="50292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O3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80160" y="4526280"/>
            <a:ext cx="4114800" cy="50292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Drive organic adoption via trial model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94960" y="4526280"/>
            <a:ext cx="5760720" cy="50292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≥ 30% trial-to-registration conversion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029200"/>
            <a:ext cx="640080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O4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80160" y="5029200"/>
            <a:ext cx="4114800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Deliver exam-ready study materials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394960" y="5029200"/>
            <a:ext cx="5760720" cy="50292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Notes cover ≥ 90% of lecture topics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532120"/>
            <a:ext cx="640080" cy="50292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O5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80160" y="5532120"/>
            <a:ext cx="4114800" cy="50292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Establish trust through premium UX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394960" y="5532120"/>
            <a:ext cx="5760720" cy="50292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/>
          <a:lstStyle/>
          <a:p>
            <a:pPr algn="l">
              <a:defRPr sz="1100" b="0">
                <a:solidFill>
                  <a:srgbClr val="1A1A1A"/>
                </a:solidFill>
                <a:latin typeface="Calibri"/>
              </a:defRPr>
            </a:pPr>
            <a:r>
              <a:t>User satisfaction ≥ 4.5 / 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TARGET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Target Users &amp; Personas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600"/>
              </a:spcAft>
              <a:defRPr sz="900" b="1">
                <a:solidFill>
                  <a:srgbClr val="6B7280"/>
                </a:solidFill>
                <a:latin typeface="Calibri"/>
              </a:defRPr>
            </a:pPr>
            <a:r>
              <a:t>PRIMARY PERSONA</a:t>
            </a:r>
          </a:p>
          <a:p>
            <a:pPr algn="l">
              <a:spcBef>
                <a:spcPts val="400"/>
              </a:spcBef>
              <a:spcAft>
                <a:spcPts val="1000"/>
              </a:spcAft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Ama, 21 — University Student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3rd-year CS student; records every lecture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Rarely reviews recordings — too time consuming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Existing tools expensive, inaccurate on accents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Will try a free tool first; converts if quality is good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06240" y="173736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600"/>
              </a:spcAft>
              <a:defRPr sz="900" b="1">
                <a:solidFill>
                  <a:srgbClr val="6B7280"/>
                </a:solidFill>
                <a:latin typeface="Calibri"/>
              </a:defRPr>
            </a:pPr>
            <a:r>
              <a:t>SECONDARY PERSONA</a:t>
            </a:r>
          </a:p>
          <a:p>
            <a:pPr algn="l">
              <a:spcBef>
                <a:spcPts val="400"/>
              </a:spcBef>
              <a:spcAft>
                <a:spcPts val="1000"/>
              </a:spcAft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Kofi, 26 — Graduate Researcher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MSc Biomedical Engineering, bilingual (Twi/English)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Attends accented English lectures with code-switching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Needs precise transcripts for thesis references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Manual correction of garbled transcripts takes hours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737360"/>
            <a:ext cx="3383280" cy="4389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182880" tIns="228600"/>
          <a:lstStyle/>
          <a:p>
            <a:pPr algn="ctr">
              <a:spcAft>
                <a:spcPts val="600"/>
              </a:spcAft>
              <a:defRPr sz="900" b="1">
                <a:solidFill>
                  <a:srgbClr val="6B7280"/>
                </a:solidFill>
                <a:latin typeface="Calibri"/>
              </a:defRPr>
            </a:pPr>
            <a:r>
              <a:t>TERTIARY PERSONA</a:t>
            </a:r>
          </a:p>
          <a:p>
            <a:pPr algn="l">
              <a:spcBef>
                <a:spcPts val="400"/>
              </a:spcBef>
              <a:spcAft>
                <a:spcPts val="1000"/>
              </a:spcAft>
              <a:defRPr sz="1600" b="1" i="0">
                <a:solidFill>
                  <a:srgbClr val="000000"/>
                </a:solidFill>
                <a:latin typeface="Calibri"/>
              </a:defRPr>
            </a:pPr>
            <a:r>
              <a:t>Dr. Mensah, 45 — Educator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University lecturer recording office hours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Wants to share structured notes with students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Needs professional PDF exports for distribution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200" b="0">
                <a:solidFill>
                  <a:srgbClr val="374151"/>
                </a:solidFill>
                <a:latin typeface="Calibri"/>
              </a:defRPr>
            </a:pPr>
            <a:r>
              <a:t>•  No time to manually write post-lecture summaries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MARKET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Competitive Landscape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3200400" cy="43891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840480" y="1737360"/>
            <a:ext cx="2011680" cy="43891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LectureScribe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852160" y="1737360"/>
            <a:ext cx="1645920" cy="43891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Otter.ai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0" y="1737360"/>
            <a:ext cx="1645920" cy="43891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AudioPen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737360"/>
            <a:ext cx="2011680" cy="43891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Notion 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2176272"/>
            <a:ext cx="320040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Lecture-specific structured notes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40480" y="2176272"/>
            <a:ext cx="201168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52160" y="2176272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0" y="2176272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176272"/>
            <a:ext cx="201168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2615184"/>
            <a:ext cx="320040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Accented/multilingual engine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40480" y="2615184"/>
            <a:ext cx="201168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 (Griot Nano 1)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2615184"/>
            <a:ext cx="16459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80" y="2615184"/>
            <a:ext cx="16459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2615184"/>
            <a:ext cx="201168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054096"/>
            <a:ext cx="320040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Free trial without signup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840480" y="3054096"/>
            <a:ext cx="201168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 (3 lectures)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52160" y="3054096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98080" y="3054096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0" y="3054096"/>
            <a:ext cx="201168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493008"/>
            <a:ext cx="320040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AI Academic Tutor (grounded Q&amp;A)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840480" y="3493008"/>
            <a:ext cx="201168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852160" y="3493008"/>
            <a:ext cx="16459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98080" y="3493008"/>
            <a:ext cx="16459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144000" y="3493008"/>
            <a:ext cx="201168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" y="3931920"/>
            <a:ext cx="320040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Branded PDF export with seal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840480" y="3931920"/>
            <a:ext cx="201168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852160" y="3931920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498080" y="3931920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144000" y="3931920"/>
            <a:ext cx="201168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4370832"/>
            <a:ext cx="320040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Revision questions generation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40480" y="4370832"/>
            <a:ext cx="201168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0" y="4370832"/>
            <a:ext cx="16459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498080" y="4370832"/>
            <a:ext cx="16459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144000" y="4370832"/>
            <a:ext cx="201168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809744"/>
            <a:ext cx="320040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100" b="1">
                <a:solidFill>
                  <a:srgbClr val="1A1A1A"/>
                </a:solidFill>
                <a:latin typeface="Calibri"/>
              </a:defRPr>
            </a:pPr>
            <a:r>
              <a:t>Key concept &amp; term extraction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40480" y="4809744"/>
            <a:ext cx="201168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852160" y="4809744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498080" y="4809744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0" y="4809744"/>
            <a:ext cx="201168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❌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029200"/>
            <a:ext cx="2468880" cy="12344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Dual ASR Engine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 i="0">
                <a:solidFill>
                  <a:srgbClr val="E5E7EB"/>
                </a:solidFill>
                <a:latin typeface="Calibri"/>
              </a:defRPr>
            </a:pPr>
            <a:r>
              <a:t>Only platform with intelligent routing</a:t>
            </a:r>
            <a:br/>
            <a:r>
              <a:t>between standard and accented models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3273552" y="5029200"/>
            <a:ext cx="2468880" cy="12344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Academic-First Output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 i="0">
                <a:solidFill>
                  <a:srgbClr val="E5E7EB"/>
                </a:solidFill>
                <a:latin typeface="Calibri"/>
              </a:defRPr>
            </a:pPr>
            <a:r>
              <a:t>Notes structured for study:</a:t>
            </a:r>
            <a:br/>
            <a:r>
              <a:t>concepts, terms, Q&amp;A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907024" y="5029200"/>
            <a:ext cx="2468880" cy="12344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Zero-Friction Trial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 i="0">
                <a:solidFill>
                  <a:srgbClr val="E5E7EB"/>
                </a:solidFill>
                <a:latin typeface="Calibri"/>
              </a:defRPr>
            </a:pPr>
            <a:r>
              <a:t>Full product experience</a:t>
            </a:r>
            <a:br/>
            <a:r>
              <a:t>before any signup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540496" y="5029200"/>
            <a:ext cx="2468880" cy="12344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0972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Grounded AI Tutor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000" b="0" i="0">
                <a:solidFill>
                  <a:srgbClr val="E5E7EB"/>
                </a:solidFill>
                <a:latin typeface="Calibri"/>
              </a:defRPr>
            </a:pPr>
            <a:r>
              <a:t>Q&amp;A constrained to actual content,</a:t>
            </a:r>
            <a:br/>
            <a:r>
              <a:t>preventing hallucination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PRODUCT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Core Capabilities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291840" cy="1234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Audio Upload &amp; Validation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MP3/WAV/M4A up to ~15 MB, ~10 min; client + server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33088" y="1691640"/>
            <a:ext cx="3291840" cy="1234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Dual-Engine Transcription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Groq Whisper (standard EN) + Griot Nano 1 (accented/multilingual)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26096" y="1691640"/>
            <a:ext cx="3291840" cy="1234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Intelligent ASR Routing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Automated language detection &amp; confidence scoring on audio sample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90672"/>
            <a:ext cx="3291840" cy="1234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Structured Notes Generation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Title, overview, sections, key concepts, terms, takeaways, Q&amp;A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33088" y="3090672"/>
            <a:ext cx="3291840" cy="1234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AI Academic Tutor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Grounded Q&amp;A constrained to lecture transcript; persisted history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26096" y="3090672"/>
            <a:ext cx="3291840" cy="1234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Multi-Format Export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Branded PDF with verified seal, JSON, Markdown, plain text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489704"/>
            <a:ext cx="3291840" cy="1234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Trial Gating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3 free uploads via signed cookie; registration prompt after exhaustion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33088" y="4489704"/>
            <a:ext cx="3291840" cy="1234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User Auth &amp; Workspace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Email/password auth; unlimited uploads; persistent lecture library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26096" y="4489704"/>
            <a:ext cx="3291840" cy="1234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37160" rIns="137160"/>
          <a:lstStyle/>
          <a:p>
            <a:pPr algn="ctr">
              <a:spcAft>
                <a:spcPts val="600"/>
              </a:spcAft>
              <a:defRPr sz="1300" b="1">
                <a:solidFill>
                  <a:srgbClr val="000000"/>
                </a:solidFill>
                <a:latin typeface="Calibri"/>
              </a:defRPr>
            </a:pPr>
            <a:r>
              <a:t>Audio Playback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6B7280"/>
                </a:solidFill>
                <a:latin typeface="Calibri"/>
              </a:defRPr>
            </a:pPr>
            <a:r>
              <a:t>Synchronized player with speed controls (1x–2x) and scrubber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USER STORIES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User Journey &amp; Key Stories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DISCOVER</a:t>
            </a:r>
            <a:br/>
            <a:r>
              <a:t>Landing Page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96596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 i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34640" y="17373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Calibri"/>
              </a:defRPr>
            </a:pPr>
            <a:r>
              <a:t>TRY (×3)</a:t>
            </a:r>
            <a:br/>
            <a:r>
              <a:t>Trial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96596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 i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17373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Calibri"/>
              </a:defRPr>
            </a:pPr>
            <a:r>
              <a:t>REGISTER</a:t>
            </a:r>
            <a:br/>
            <a:r>
              <a:t>Auth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96596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 i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17373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00000"/>
                </a:solidFill>
                <a:latin typeface="Calibri"/>
              </a:defRPr>
            </a:pPr>
            <a:r>
              <a:t>WORKSPACE</a:t>
            </a:r>
            <a:br/>
            <a:r>
              <a:t>Unlimited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1965960"/>
            <a:ext cx="36576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0" i="0">
                <a:solidFill>
                  <a:srgbClr val="6B7280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18320" y="1737360"/>
            <a:ext cx="1828800" cy="914400"/>
          </a:xfrm>
          <a:prstGeom prst="roundRect">
            <a:avLst>
              <a:gd name="adj" fmla="val 6000"/>
            </a:avLst>
          </a:prstGeom>
          <a:solidFill>
            <a:srgbClr val="1A1A1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EXPORT &amp;</a:t>
            </a:r>
            <a:br/>
            <a:r>
              <a:t>STUDY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1752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Epic 1: Discovery &amp; Trial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US-1.1: Understand product from landing page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US-1.3: Test full pipeline without signup (3 trials)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US-1.4: Clear prompt to register after trial exhaustion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10128" y="301752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Epic 2: Authentication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US-2.1: Create account (email/password → workspace)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US-2.2: Log in and access existing workspace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US-2.3: Secure logout with cookie clearing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80176" y="301752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Epic 3: Lecture Processing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US-3.1: Upload audio → receive transcript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US-3.2: Accurate transcription for accented speech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US-3.3: Structured notes with concepts &amp; terms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50224" y="3017520"/>
            <a:ext cx="2468880" cy="320040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37160" rIns="109728"/>
          <a:lstStyle/>
          <a:p>
            <a:pPr algn="ctr">
              <a:spcAft>
                <a:spcPts val="800"/>
              </a:spcAft>
              <a:defRPr sz="1200" b="1">
                <a:solidFill>
                  <a:srgbClr val="000000"/>
                </a:solidFill>
                <a:latin typeface="Calibri"/>
              </a:defRPr>
            </a:pPr>
            <a:r>
              <a:t>Epic 4: Study &amp; Export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US-4.1: Ask lecture questions to AI Tutor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US-4.3: Download notes in PDF/JSON/MD/TXT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000" b="0">
                <a:solidFill>
                  <a:srgbClr val="374151"/>
                </a:solidFill>
                <a:latin typeface="Calibri"/>
              </a:defRPr>
            </a:pPr>
            <a:r>
              <a:t>•  US-4.4: Audio playback with speed controls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Functional Requirements — Core Features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FR-1: Navigation &amp; Menu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Wordmark logo (left) + Menu pill button (right)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Dropdown: HOME, TRY LECTURESCRIBE, LOGIN, ABOUT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Active route visually indicated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Responsive across mobile, tablet,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9164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FR-2: Trial Flow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3 uploads for anonymous users (full pipeline)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Server-side signed HTTP-only cookie enforcement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UI shows remaining credits (e.g. 'Trial 1 of 3')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4th attempt → TRIAL_LIMIT_REACHED + login CTA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4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FR-3: Authentication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Unified auth page: Create account / Log in toggle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PostgreSQL users table + bcrypt (cost ≥ 10)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JWT tokens in HTTP-only, SameSite, Secure cookies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/api/auth/signup, /login, /logout, /me endpoints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97764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FR-4: Workspace &amp; Persistence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Authenticated → /workspace with unlimited uploads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Lectures, notes, tutor history persisted in PostgreSQL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Past lecture library grid with metadata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Full CRUD on lecture records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Functional Requirements — Processing &amp; Output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FR-5: Dual Speech Transcription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MP3/WAV/M4A up to ~15 MB and ~10 minutes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Groq Whisper (whisper-large-v3-turbo) for standard EN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Griot Nano 1 sidecar for accented/multilingual speech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Intelligent routing via confidence metrics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Normalized output: { transcript, language, engine }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9164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FR-6: Notes Generation Engine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Suggested lecture title from transcript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Overview/summary + structured section headings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Key concepts, important terms with definitions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Key takeaways + self-test revision questions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Complete structured Markdown notes document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97764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FR-7: AI Academic Tutor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Interactive Q&amp;A grounded in lecture transcript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Conversation history persisted per lecture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Responses constrained to lecture content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Rate-limited to prevent abuse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0" y="3977640"/>
            <a:ext cx="502920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FR-8 &amp; FR-9: Export &amp; Audio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Copy to clipboard with confirmation feedback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Download: .txt, .md, .json, branded PDF w/ seal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Audio player: play/pause, scrubber, timestamp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Playback speed: 1x, 1.25x, 1.5x, 2x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Non-Functional Requirements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Security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bcrypt password hashing (rounds ≥ 10)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API keys in backend .env only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HTTP-only, SameSite, Secure cookies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helmet headers + express-rate-limit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Server-side validation (type, size, auth)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91840" y="173736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Performance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End-to-end processing &lt; 2 minutes (10-min file)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Page load &lt; 3 seconds (cold start)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Audio upload &lt; 10 seconds (15 MB, broadband)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73736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Reliability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Specific, human-readable error messages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Graceful fallback if Griot sidecar unavailable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File cleanup after processing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737360"/>
            <a:ext cx="2468880" cy="29260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Responsiveness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Full mobile responsive (phones, tablets, desktop)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Touch-friendly interactions on mobile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Consistent design at all breakpoints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515600" cy="14630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CLIENT LAYER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React + Tailwind CSS  •  Vercel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374151"/>
                </a:solidFill>
                <a:latin typeface="Calibri"/>
              </a:defRPr>
            </a:pPr>
            <a:r>
              <a:t>Landing  |  Trial  |  Auth  |  About  |  Workspace (Protected)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312724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291840"/>
            <a:ext cx="10515600" cy="1463040"/>
          </a:xfrm>
          <a:prstGeom prst="roundRect">
            <a:avLst>
              <a:gd name="adj" fmla="val 3000"/>
            </a:avLst>
          </a:prstGeom>
          <a:solidFill>
            <a:srgbClr val="1A1A1A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SERVER LAYER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000" b="0" i="0">
                <a:solidFill>
                  <a:srgbClr val="E5E7EB"/>
                </a:solidFill>
                <a:latin typeface="Calibri"/>
              </a:defRPr>
            </a:pPr>
            <a:r>
              <a:t>Node.js + Express  •  Render / Railway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E5E7EB"/>
                </a:solidFill>
                <a:latin typeface="Calibri"/>
              </a:defRPr>
            </a:pPr>
            <a:r>
              <a:t>Auth Routes  →  Upload Routes  →  Lectures CRUD  →  Chat (Tutor)</a:t>
            </a:r>
            <a:br/>
            <a:r>
              <a:t>↓</a:t>
            </a:r>
            <a:br/>
            <a:r>
              <a:t>Intelligent ASR Router: Groq Whisper (Cloud)  ←→  Griot Nano 1 (Sidecar)</a:t>
            </a:r>
            <a:br/>
            <a:r>
              <a:t>↓</a:t>
            </a:r>
            <a:br/>
            <a:r>
              <a:t>LLM Note Generation (Groq Llama / Qwen)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4727448"/>
            <a:ext cx="1371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92040"/>
            <a:ext cx="10515600" cy="14630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400" b="1">
                <a:solidFill>
                  <a:srgbClr val="000000"/>
                </a:solidFill>
                <a:latin typeface="Calibri"/>
              </a:defRPr>
            </a:pPr>
            <a:r>
              <a:t>DATA LAYER</a:t>
            </a:r>
          </a:p>
          <a:p>
            <a:pPr algn="l">
              <a:spcBef>
                <a:spcPts val="200"/>
              </a:spcBef>
              <a:spcAft>
                <a:spcPts val="600"/>
              </a:spcAft>
              <a:defRPr sz="1000" b="0" i="0">
                <a:solidFill>
                  <a:srgbClr val="6B7280"/>
                </a:solidFill>
                <a:latin typeface="Calibri"/>
              </a:defRPr>
            </a:pPr>
            <a:r>
              <a:t>PostgreSQL  •  Managed (Render / Railway)</a:t>
            </a:r>
          </a:p>
          <a:p>
            <a:pPr algn="l">
              <a:spcBef>
                <a:spcPts val="200"/>
              </a:spcBef>
              <a:spcAft>
                <a:spcPts val="200"/>
              </a:spcAft>
              <a:defRPr sz="1100" b="0" i="0">
                <a:solidFill>
                  <a:srgbClr val="374151"/>
                </a:solidFill>
                <a:latin typeface="Calibri"/>
              </a:defRPr>
            </a:pPr>
            <a:r>
              <a:t>users: id, email, password_hash, timestamps</a:t>
            </a:r>
            <a:br/>
            <a:r>
              <a:t>lectures: id, user_id, title, transcript, key_concepts (JSONB), tutor_history (JSONB), timestamps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645920" cy="43891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Layer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1691640"/>
            <a:ext cx="3474720" cy="43891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Technology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760720" y="1691640"/>
            <a:ext cx="5394960" cy="438912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Rationale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130552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2130552"/>
            <a:ext cx="34747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React + Tailwind CSS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0" y="2130552"/>
            <a:ext cx="539496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Component-based SPA with utility-first styling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69464"/>
            <a:ext cx="16459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Backend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286000" y="2569464"/>
            <a:ext cx="34747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Node.js + Express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760720" y="2569464"/>
            <a:ext cx="539496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Non-blocking I/O; rich middleware ecosystem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008376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Database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286000" y="3008376"/>
            <a:ext cx="34747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760720" y="3008376"/>
            <a:ext cx="539496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JSONB for flexible schema; relational integrity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447288"/>
            <a:ext cx="16459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Authentication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3447288"/>
            <a:ext cx="34747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bcrypt + JWT + HTTP-only cookies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60720" y="3447288"/>
            <a:ext cx="539496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Industry-standard hashing &amp; stateless sessions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886200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Primary ASR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286000" y="3886200"/>
            <a:ext cx="34747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Groq Whisper (whisper-large-v3-turbo)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60720" y="3886200"/>
            <a:ext cx="539496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High-throughput cloud ASR with metadata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325112"/>
            <a:ext cx="16459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Specialized ASR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286000" y="4325112"/>
            <a:ext cx="34747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Griot Nano 1 (FastAPI sidecar)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60720" y="4325112"/>
            <a:ext cx="539496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ConformerCTC for accented/multilingual speech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764024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Note Generation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286000" y="4764024"/>
            <a:ext cx="34747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Groq Llama / Qwen LLM API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760720" y="4764024"/>
            <a:ext cx="539496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Fast inference for structured Markdown output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5202936"/>
            <a:ext cx="16459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286000" y="5202936"/>
            <a:ext cx="34747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helmet + express-rate-limit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760720" y="5202936"/>
            <a:ext cx="539496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Security headers + abuse prevention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641848"/>
            <a:ext cx="16459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Frontend Deploy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286000" y="5641848"/>
            <a:ext cx="347472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Vercel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5641848"/>
            <a:ext cx="5394960" cy="43891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Zero-config React deployment with global CDN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6080760"/>
            <a:ext cx="16459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Backend Deploy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286000" y="6080760"/>
            <a:ext cx="347472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Render / Railway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60720" y="6080760"/>
            <a:ext cx="5394960" cy="43891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Managed Node.js hosting with PostgreSQL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DATA MODEL &amp; API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Data Model &amp; API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5029200" cy="219456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users Table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id — UUID, Primary Key (gen_random_uuid)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email — VARCHAR(255), UNIQUE, NOT NULL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password_hash — VARCHAR(255), NOT NULL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created_at — TIMESTAMPTZ, DEFAULT NOW()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updated_at — TIMESTAMPTZ, DEFAULT NOW()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Index: idx_users_email ON email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1691640"/>
            <a:ext cx="5212080" cy="219456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lectures Table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id (UUID PK), user_id (FK → users), title, overview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transcript (TEXT), duration_sec, engine_used, language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key_concepts, main_arguments, important_terms (JSONB)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study_notes, key_takeaways, revision_questions (JSONB)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notes_markdown (TEXT), tutor_history (JSONB)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Indexes: user_id, created_at DESC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06240"/>
            <a:ext cx="3291840" cy="2377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Authentication API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POST /api/auth/signup — Create user, set cookie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POST /api/auth/login — Verify, set cookie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POST /api/auth/logout — Clear cookie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GET  /api/auth/me — Session validation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33088" y="4206240"/>
            <a:ext cx="3291840" cy="2377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Lecture Processing API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POST /api/upload — Upload + transcribe + notes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GET  /api/trial-status — Check remaining trials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POST /api/chat — AI Tutor grounded Q&amp;A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626096" y="4206240"/>
            <a:ext cx="3291840" cy="237744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Lecture CRUD API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GET    /api/lectures — List all user lectures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GET    /api/lectures/:id — Single lecture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POST   /api/lectures — Create/import record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PUT    /api/lectures/:id — Update record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DELETE /api/lectures/:id — Delete record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POST   /api/lectures/:id/tutor — Append tutor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UI/UX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UI/UX Design Specification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0515600" cy="594360"/>
          </a:xfrm>
          <a:prstGeom prst="roundRect">
            <a:avLst>
              <a:gd name="adj" fmla="val 3000"/>
            </a:avLst>
          </a:prstGeom>
          <a:solidFill>
            <a:srgbClr val="F9FAFB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300" i="1">
                <a:solidFill>
                  <a:srgbClr val="374151"/>
                </a:solidFill>
                <a:latin typeface="Calibri"/>
              </a:defRPr>
            </a:pPr>
            <a:r>
              <a:t>Design Philosophy: Minimal. High-contrast. Confident. Premium simplicity, not 'startup gradient.'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333756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Color Palette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#000000 — Primary black (text, buttons, dark heroes)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#FFFFFF — Primary white (backgrounds, button text)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~#6B7280 — Muted gray (secondary text, captions)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Grayscale only — no accent colors, no blue links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60520" y="2468880"/>
            <a:ext cx="333756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Typography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Logo: Italic serif (e.g. LectureScribe)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Headlines: Bold sans-serif, 700-800 weight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Emphasis: Italic serif within headline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Body: Regular weight, gray, smaller size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680960" y="2468880"/>
            <a:ext cx="3337560" cy="21031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Buttons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Primary: Solid black pill, white bold text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Secondary: White/transparent, black outline, pill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Nav Menu: Black pill, white text, chevron icon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463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Landing (/)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 i="0">
                <a:solidFill>
                  <a:srgbClr val="E5E7EB"/>
                </a:solidFill>
                <a:latin typeface="Calibri"/>
              </a:defRPr>
            </a:pPr>
            <a:r>
              <a:t>Hero headline, feature cards,</a:t>
            </a:r>
            <a:br/>
            <a:r>
              <a:t>dark CTA card, contact section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70632" y="48463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Trial (/trial)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 i="0">
                <a:solidFill>
                  <a:srgbClr val="E5E7EB"/>
                </a:solidFill>
                <a:latin typeface="Calibri"/>
              </a:defRPr>
            </a:pPr>
            <a:r>
              <a:t>Upload flow with trial badge;</a:t>
            </a:r>
            <a:br/>
            <a:r>
              <a:t>exhaustion → registration CTA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01184" y="48463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Auth (/login)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 i="0">
                <a:solidFill>
                  <a:srgbClr val="E5E7EB"/>
                </a:solidFill>
                <a:latin typeface="Calibri"/>
              </a:defRPr>
            </a:pPr>
            <a:r>
              <a:t>Centered card with toggle;</a:t>
            </a:r>
            <a:br/>
            <a:r>
              <a:t>pill inputs, clean errors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31736" y="48463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About (/about)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 i="0">
                <a:solidFill>
                  <a:srgbClr val="E5E7EB"/>
                </a:solidFill>
                <a:latin typeface="Calibri"/>
              </a:defRPr>
            </a:pPr>
            <a:r>
              <a:t>Mission hero, problem/solution,</a:t>
            </a:r>
            <a:br/>
            <a:r>
              <a:t>3-card architecture grid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62288" y="4846320"/>
            <a:ext cx="1993392" cy="1463040"/>
          </a:xfrm>
          <a:prstGeom prst="roundRect">
            <a:avLst>
              <a:gd name="adj" fmla="val 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109728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Workspace (/workspace)</a:t>
            </a:r>
          </a:p>
          <a:p>
            <a:pPr algn="l">
              <a:spcBef>
                <a:spcPts val="600"/>
              </a:spcBef>
              <a:spcAft>
                <a:spcPts val="200"/>
              </a:spcAft>
              <a:defRPr sz="1000" b="0" i="0">
                <a:solidFill>
                  <a:srgbClr val="E5E7EB"/>
                </a:solidFill>
                <a:latin typeface="Calibri"/>
              </a:defRPr>
            </a:pPr>
            <a:r>
              <a:t>Unlimited uploads, lecture</a:t>
            </a:r>
            <a:br/>
            <a:r>
              <a:t>library, tutor, export 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SECURITY &amp; PRIVACY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Security &amp; Privacy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337560" cy="25603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Authentication Security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Password storage: bcrypt, cost factor ≥ 10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Sessions: JWT in HTTP-only, SameSite, Secure cookies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Secrets: JWT_SECRET, SESSION_SECRET in .env only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API keys: Groq, HuggingFace strictly backend-only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691640"/>
            <a:ext cx="3337560" cy="25603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Application Security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Security headers: helmet middleware (CSP, HSTS, etc.)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Rate limiting: express-rate-limit on auth, upload, chat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Input validation: file type, size, duration, auth tokens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CORS: configured for deployed frontend origin only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Trial integrity: server-side signed cookies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691640"/>
            <a:ext cx="3337560" cy="256032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Data Privacy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Audio files: processed and cleaned up, not stored permanently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User data: email + hashed password only (minimal PII)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Lecture content: accessible only by authenticated owner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Third-party: audio sent to Groq/HuggingFace for processing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480560"/>
            <a:ext cx="45720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 i="0">
                <a:solidFill>
                  <a:srgbClr val="000000"/>
                </a:solidFill>
                <a:latin typeface="Calibri"/>
              </a:defRPr>
            </a:pPr>
            <a:r>
              <a:t>Performance Requirements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892040"/>
            <a:ext cx="4114800" cy="347472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Metric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54880" y="4892040"/>
            <a:ext cx="2743200" cy="347472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Target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239512"/>
            <a:ext cx="4114800" cy="34747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Upload-to-notes (10-min file)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754880" y="5239512"/>
            <a:ext cx="2743200" cy="34747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&lt; 2 minutes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5586984"/>
            <a:ext cx="4114800" cy="3474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Page load (cold)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54880" y="5586984"/>
            <a:ext cx="2743200" cy="3474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&lt; 3 seconds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5934456"/>
            <a:ext cx="4114800" cy="34747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Audio upload (15 MB)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754880" y="5934456"/>
            <a:ext cx="2743200" cy="34747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&lt; 10 seconds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6281928"/>
            <a:ext cx="4114800" cy="3474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Database query (lecture list)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754880" y="6281928"/>
            <a:ext cx="2743200" cy="347472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&lt; 200 ms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" y="6629400"/>
            <a:ext cx="4114800" cy="34747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1">
                <a:solidFill>
                  <a:srgbClr val="1A1A1A"/>
                </a:solidFill>
                <a:latin typeface="Calibri"/>
              </a:defRPr>
            </a:pPr>
            <a:r>
              <a:t>Concurrent users (MVP)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754880" y="6629400"/>
            <a:ext cx="2743200" cy="347472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~50 simultaneous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RELEASE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Release Plan &amp; Milestones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1371600" cy="384048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011680" y="1691640"/>
            <a:ext cx="5029200" cy="384048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Deliverable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040880" y="1691640"/>
            <a:ext cx="914400" cy="384048"/>
          </a:xfrm>
          <a:prstGeom prst="roundRect">
            <a:avLst>
              <a:gd name="adj" fmla="val 0"/>
            </a:avLst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75688"/>
            <a:ext cx="13716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11680" y="2075688"/>
            <a:ext cx="50292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Repo Setup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075688"/>
            <a:ext cx="9144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459736"/>
            <a:ext cx="13716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011680" y="2459736"/>
            <a:ext cx="50292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Project Setup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459736"/>
            <a:ext cx="9144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2843784"/>
            <a:ext cx="13716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011680" y="2843784"/>
            <a:ext cx="50292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40880" y="2843784"/>
            <a:ext cx="9144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227832"/>
            <a:ext cx="13716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011680" y="3227832"/>
            <a:ext cx="50292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Transcription (Dual Engine)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40880" y="3227832"/>
            <a:ext cx="9144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3611880"/>
            <a:ext cx="13716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011680" y="3611880"/>
            <a:ext cx="50292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Notes Generation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880" y="3611880"/>
            <a:ext cx="9144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995928"/>
            <a:ext cx="13716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011680" y="3995928"/>
            <a:ext cx="50292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Results View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40880" y="3995928"/>
            <a:ext cx="9144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379976"/>
            <a:ext cx="13716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6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011680" y="4379976"/>
            <a:ext cx="50292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Processing Status &amp; Error UI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040880" y="4379976"/>
            <a:ext cx="9144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764024"/>
            <a:ext cx="13716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7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011680" y="4764024"/>
            <a:ext cx="50292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Testing &amp; Refinements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040880" y="4764024"/>
            <a:ext cx="9144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5148072"/>
            <a:ext cx="13716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011680" y="5148072"/>
            <a:ext cx="50292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Nav, Trial, Auth, Workspace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040880" y="5148072"/>
            <a:ext cx="9144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" y="5532120"/>
            <a:ext cx="13716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8.5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011680" y="5532120"/>
            <a:ext cx="50292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Persistence, Security, Audio, PDF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040880" y="5532120"/>
            <a:ext cx="914400" cy="384048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916168"/>
            <a:ext cx="13716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A1A1A"/>
                </a:solidFill>
                <a:latin typeface="Calibri"/>
              </a:defRPr>
            </a:pPr>
            <a:r>
              <a:t>Phase 9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011680" y="5916168"/>
            <a:ext cx="50292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Production Deployment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040880" y="5916168"/>
            <a:ext cx="914400" cy="384048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0">
                <a:solidFill>
                  <a:srgbClr val="1A1A1A"/>
                </a:solidFill>
                <a:latin typeface="Calibri"/>
              </a:defRPr>
            </a:pPr>
            <a:r>
              <a:t>🔲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365760"/>
            <a:ext cx="2377440" cy="347472"/>
          </a:xfrm>
          <a:prstGeom prst="roundRect">
            <a:avLst>
              <a:gd name="adj" fmla="val 1500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SUCCESS METRICS &amp;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 i="0">
                <a:solidFill>
                  <a:srgbClr val="000000"/>
                </a:solidFill>
                <a:latin typeface="Calibri"/>
              </a:defRPr>
            </a:pPr>
            <a:r>
              <a:t>Success Metrics &amp; Risk Mitigation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508760"/>
            <a:ext cx="105156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337560" cy="24688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Product KPIs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Trial → Registration: ≥ 30% conversion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Upload Success Rate: ≥ 95%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Processing Completion: ≥ 98%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Tutor Engagement: ≥ 40% of lectures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30-Day Return Usage: ≥ 60%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60520" y="1691640"/>
            <a:ext cx="3337560" cy="24688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Quality KPIs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Whisper WER (standard EN): ≥ 92%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Griot WER (accented EN): ≥ 85%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Topic Coverage: ≥ 90%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User Satisfaction: ≥ 4.5 / 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80960" y="1691640"/>
            <a:ext cx="3337560" cy="2468880"/>
          </a:xfrm>
          <a:prstGeom prst="roundRect">
            <a:avLst>
              <a:gd name="adj" fmla="val 4000"/>
            </a:avLst>
          </a:prstGeom>
          <a:solidFill>
            <a:srgbClr val="F3F4F6"/>
          </a:solidFill>
          <a:ln w="1270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82880" rIns="182880" tIns="182880"/>
          <a:lstStyle/>
          <a:p>
            <a:pPr algn="l">
              <a:spcAft>
                <a:spcPts val="600"/>
              </a:spcAft>
              <a:defRPr sz="1400" b="1">
                <a:solidFill>
                  <a:srgbClr val="000000"/>
                </a:solidFill>
                <a:latin typeface="Calibri"/>
              </a:defRPr>
            </a:pPr>
            <a:r>
              <a:t>Technical KPIs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Uptime: ≥ 99.5%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P95 Processing Latency: &lt; 120s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Error Rate: &lt; 2% (5xx responses)</a:t>
            </a:r>
          </a:p>
          <a:p>
            <a:pPr>
              <a:spcBef>
                <a:spcPts val="3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Calibri"/>
              </a:defRPr>
            </a:pPr>
            <a:r>
              <a:t>•  Page Load (LCP): &lt; 2.5 seconds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389120"/>
            <a:ext cx="548640" cy="365760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#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88720" y="4389120"/>
            <a:ext cx="2377440" cy="365760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Risk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66160" y="4389120"/>
            <a:ext cx="1371600" cy="365760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Prob /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937760" y="4389120"/>
            <a:ext cx="6217920" cy="365760"/>
          </a:xfrm>
          <a:prstGeom prst="roundRect">
            <a:avLst>
              <a:gd name="adj" fmla="val 0"/>
            </a:avLst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Mitigation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754880"/>
            <a:ext cx="54864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R1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88720" y="4754880"/>
            <a:ext cx="237744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Groq API downtime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4754880"/>
            <a:ext cx="137160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Med / High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37760" y="4754880"/>
            <a:ext cx="621792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Exponential backoff; evaluate fallback providers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120640"/>
            <a:ext cx="548640" cy="3657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R2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5120640"/>
            <a:ext cx="2377440" cy="3657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Griot sidecar unavailable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566160" y="5120640"/>
            <a:ext cx="1371600" cy="3657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Med / Med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937760" y="5120640"/>
            <a:ext cx="6217920" cy="3657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Graceful Whisper-only fallback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5486400"/>
            <a:ext cx="54864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R3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88720" y="5486400"/>
            <a:ext cx="237744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Poor accented transcription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566160" y="5486400"/>
            <a:ext cx="137160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Med / High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937760" y="5486400"/>
            <a:ext cx="621792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Continuous Griot evaluation; feedback loop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852160"/>
            <a:ext cx="548640" cy="3657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R4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88720" y="5852160"/>
            <a:ext cx="2377440" cy="3657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LLM hallucination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5852160"/>
            <a:ext cx="1371600" cy="3657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Med / Med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937760" y="5852160"/>
            <a:ext cx="6217920" cy="365760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Grounding prompts; raw transcript verification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6217920"/>
            <a:ext cx="54864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1A1A1A"/>
                </a:solidFill>
                <a:latin typeface="Calibri"/>
              </a:defRPr>
            </a:pPr>
            <a:r>
              <a:t>R5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88720" y="6217920"/>
            <a:ext cx="237744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Auth vulnerabilities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6217920"/>
            <a:ext cx="137160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0">
                <a:solidFill>
                  <a:srgbClr val="1A1A1A"/>
                </a:solidFill>
                <a:latin typeface="Calibri"/>
              </a:defRPr>
            </a:pPr>
            <a:r>
              <a:t>Low / Critical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6217920"/>
            <a:ext cx="6217920" cy="365760"/>
          </a:xfrm>
          <a:prstGeom prst="roundRect">
            <a:avLst>
              <a:gd name="adj" fmla="val 0"/>
            </a:avLst>
          </a:prstGeom>
          <a:solidFill>
            <a:srgbClr val="F3F4F6"/>
          </a:solidFill>
          <a:ln w="6350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000" b="0">
                <a:solidFill>
                  <a:srgbClr val="1A1A1A"/>
                </a:solidFill>
                <a:latin typeface="Calibri"/>
              </a:defRPr>
            </a:pPr>
            <a:r>
              <a:t>bcrypt + JWT + HTTP-only; regular audits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54864"/>
          </a:xfrm>
          <a:prstGeom prst="roundRect">
            <a:avLst>
              <a:gd name="adj" fmla="val 2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5200" b="1" i="1">
                <a:solidFill>
                  <a:srgbClr val="FFFFFF"/>
                </a:solidFill>
                <a:latin typeface="Calibri"/>
              </a:defRPr>
            </a:pPr>
            <a:r>
              <a:t>LectureScribe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600" b="0" i="1">
                <a:solidFill>
                  <a:srgbClr val="E5E7EB"/>
                </a:solidFill>
                <a:latin typeface="Calibri"/>
              </a:defRPr>
            </a:pPr>
            <a:r>
              <a:t>Turn your lecture into notes.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3931920"/>
            <a:ext cx="3657600" cy="25400"/>
          </a:xfrm>
          <a:prstGeom prst="roundRect">
            <a:avLst>
              <a:gd name="adj" fmla="val 2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9144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0" i="0">
                <a:solidFill>
                  <a:srgbClr val="6B7280"/>
                </a:solidFill>
                <a:latin typeface="Calibri"/>
              </a:defRPr>
            </a:pPr>
            <a:r>
              <a:t>Thank you for reviewing this Product Requirements Document.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7548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 i="0">
                <a:solidFill>
                  <a:srgbClr val="6B7280"/>
                </a:solidFill>
                <a:latin typeface="Calibri"/>
              </a:defRPr>
            </a:pPr>
            <a:r>
              <a:t>Ready for deployment  ·  Feature-complete  ·  Pre-production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21208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 i="0">
                <a:solidFill>
                  <a:srgbClr val="374151"/>
                </a:solidFill>
                <a:latin typeface="Calibri"/>
              </a:defRPr>
            </a:pPr>
            <a:r>
              <a:t>github.com/Kofi011/lecturescribe  ·  August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400800"/>
            <a:ext cx="1371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 i="0">
                <a:solidFill>
                  <a:srgbClr val="6B7280"/>
                </a:solidFill>
                <a:latin typeface="Calibri"/>
              </a:defRPr>
            </a:pPr>
            <a: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